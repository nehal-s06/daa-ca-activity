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Host Grotesk" panose="020B0604020202020204" charset="0"/>
      <p:regular r:id="rId13"/>
    </p:embeddedFont>
    <p:embeddedFont>
      <p:font typeface="Host Grotesk Bold" panose="020B0604020202020204" charset="0"/>
      <p:regular r:id="rId14"/>
    </p:embeddedFont>
    <p:embeddedFont>
      <p:font typeface="Red Hat Mono SemiBold" panose="020B0604020202020204" charset="0"/>
      <p:regular r:id="rId15"/>
    </p:embeddedFont>
    <p:embeddedFont>
      <p:font typeface="Sofia Sans Extra Condensed Black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2617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D3B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18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1D3B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1653238"/>
            <a:ext cx="6654634" cy="28161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3000"/>
              </a:lnSpc>
              <a:buNone/>
            </a:pPr>
            <a:r>
              <a:rPr lang="en-US" sz="8400" kern="100" spc="-42" dirty="0">
                <a:solidFill>
                  <a:srgbClr val="FFFFFF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THE 0/1</a:t>
            </a:r>
            <a:endParaRPr lang="en-US" sz="8400" dirty="0"/>
          </a:p>
          <a:p>
            <a:pPr marL="0" indent="0" algn="l">
              <a:lnSpc>
                <a:spcPct val="73000"/>
              </a:lnSpc>
              <a:buNone/>
            </a:pPr>
            <a:r>
              <a:rPr lang="en-US" sz="8400" kern="100" spc="-42" dirty="0">
                <a:solidFill>
                  <a:srgbClr val="FFFFFF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KNAPSACK</a:t>
            </a:r>
            <a:endParaRPr lang="en-US" sz="8400" dirty="0"/>
          </a:p>
          <a:p>
            <a:pPr marL="0" indent="0" algn="l">
              <a:lnSpc>
                <a:spcPct val="73000"/>
              </a:lnSpc>
              <a:buNone/>
            </a:pPr>
            <a:r>
              <a:rPr lang="en-US" sz="8400" kern="100" spc="-42" dirty="0">
                <a:solidFill>
                  <a:srgbClr val="FFFFFF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PROBLEM</a:t>
            </a:r>
            <a:endParaRPr lang="en-US" sz="8400" dirty="0"/>
          </a:p>
        </p:txBody>
      </p:sp>
      <p:sp>
        <p:nvSpPr>
          <p:cNvPr id="3" name="Text 1"/>
          <p:cNvSpPr/>
          <p:nvPr/>
        </p:nvSpPr>
        <p:spPr>
          <a:xfrm>
            <a:off x="711182" y="4630173"/>
            <a:ext cx="6654634" cy="700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b="1" dirty="0">
                <a:solidFill>
                  <a:srgbClr val="FFE83D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Dynamic Programming for Optimal Decision-Making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873803" y="953101"/>
            <a:ext cx="3809905" cy="421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8000"/>
              </a:lnSpc>
              <a:spcAft>
                <a:spcPts val="1750"/>
              </a:spcAft>
              <a:buNone/>
            </a:pPr>
            <a:r>
              <a:rPr lang="en-US" sz="320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Presented by: </a:t>
            </a:r>
          </a:p>
          <a:p>
            <a:pPr marL="0" indent="0" algn="l">
              <a:lnSpc>
                <a:spcPct val="108000"/>
              </a:lnSpc>
              <a:spcAft>
                <a:spcPts val="1750"/>
              </a:spcAft>
              <a:buNone/>
            </a:pPr>
            <a:r>
              <a:rPr lang="en-US" sz="320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Nehal Sugandh </a:t>
            </a:r>
            <a:endParaRPr lang="en-US" sz="3200" dirty="0"/>
          </a:p>
          <a:p>
            <a:pPr marL="0" indent="0" algn="l">
              <a:lnSpc>
                <a:spcPct val="108000"/>
              </a:lnSpc>
              <a:spcAft>
                <a:spcPts val="1750"/>
              </a:spcAft>
              <a:buNone/>
            </a:pPr>
            <a:r>
              <a:rPr lang="en-US" sz="320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PRN Number</a:t>
            </a:r>
            <a:r>
              <a:rPr lang="en-US" sz="320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: 25070521251(E1)</a:t>
            </a:r>
            <a:endParaRPr lang="en-US" sz="3200" dirty="0"/>
          </a:p>
          <a:p>
            <a:pPr marL="0" indent="0" algn="l">
              <a:lnSpc>
                <a:spcPct val="108000"/>
              </a:lnSpc>
              <a:spcAft>
                <a:spcPts val="1750"/>
              </a:spcAft>
              <a:buNone/>
            </a:pPr>
            <a:r>
              <a:rPr lang="en-US" sz="320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Symbiosis Institute Of Technology, Nagpur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873803" y="6130945"/>
            <a:ext cx="4317892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Generated using Gamma AI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2" y="236356"/>
            <a:ext cx="702550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0A1540"/>
                </a:solidFill>
                <a:latin typeface="Red Hat Mono SemiBold" pitchFamily="34" charset="0"/>
                <a:ea typeface="Red Hat Mono SemiBold" pitchFamily="34" charset="-122"/>
                <a:cs typeface="Red Hat Mono SemiBold" pitchFamily="34" charset="-120"/>
              </a:rPr>
              <a:t>THE DECISION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04792" y="680403"/>
            <a:ext cx="6720712" cy="1351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5600" dirty="0">
                <a:solidFill>
                  <a:srgbClr val="0A1540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LIMITED SPACE,</a:t>
            </a:r>
            <a:endParaRPr lang="en-US" sz="5600" dirty="0"/>
          </a:p>
          <a:p>
            <a:pPr marL="0" indent="0" algn="l">
              <a:lnSpc>
                <a:spcPct val="79000"/>
              </a:lnSpc>
              <a:buNone/>
            </a:pPr>
            <a:r>
              <a:rPr lang="en-US" sz="5600" dirty="0">
                <a:solidFill>
                  <a:srgbClr val="0A1540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MAXIMUM VALUE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304792" y="2248098"/>
            <a:ext cx="6720712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You have a bag that can carry only 6 kg. Which items should you choose to maximize the total value?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04792" y="3129161"/>
            <a:ext cx="6720712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406400" indent="-406400" algn="l">
              <a:lnSpc>
                <a:spcPct val="108000"/>
              </a:lnSpc>
              <a:buSzPct val="100000"/>
              <a:buChar char="•"/>
            </a:pPr>
            <a:r>
              <a:rPr lang="en-US" sz="20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Laptop</a:t>
            </a: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— 3 kg, value 4</a:t>
            </a:r>
            <a:endParaRPr lang="en-US" sz="2000" dirty="0"/>
          </a:p>
          <a:p>
            <a:pPr marL="406400" indent="-406400" algn="l">
              <a:lnSpc>
                <a:spcPct val="108000"/>
              </a:lnSpc>
              <a:buSzPct val="100000"/>
              <a:buChar char="•"/>
            </a:pPr>
            <a:r>
              <a:rPr lang="en-US" sz="20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Camera</a:t>
            </a: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— 2 kg, value 3</a:t>
            </a:r>
            <a:endParaRPr lang="en-US" sz="2000" dirty="0"/>
          </a:p>
          <a:p>
            <a:pPr marL="406400" indent="-406400" algn="l">
              <a:lnSpc>
                <a:spcPct val="108000"/>
              </a:lnSpc>
              <a:buSzPct val="100000"/>
              <a:buChar char="•"/>
            </a:pPr>
            <a:r>
              <a:rPr lang="en-US" sz="20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Headphones</a:t>
            </a: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— 1 kg, value 2</a:t>
            </a:r>
            <a:endParaRPr lang="en-US" sz="2000" dirty="0"/>
          </a:p>
          <a:p>
            <a:pPr marL="406400" indent="-406400" algn="l">
              <a:lnSpc>
                <a:spcPct val="108000"/>
              </a:lnSpc>
              <a:buSzPct val="100000"/>
              <a:buChar char="•"/>
            </a:pPr>
            <a:r>
              <a:rPr lang="en-US" sz="20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Textbook</a:t>
            </a: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— 4 kg, value 5</a:t>
            </a:r>
            <a:endParaRPr lang="en-US" sz="2000" dirty="0"/>
          </a:p>
          <a:p>
            <a:pPr marL="406400" indent="-406400" algn="l">
              <a:lnSpc>
                <a:spcPct val="108000"/>
              </a:lnSpc>
              <a:buSzPct val="100000"/>
              <a:buChar char="•"/>
            </a:pPr>
            <a:r>
              <a:rPr lang="en-US" sz="20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Power bank</a:t>
            </a: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— 2 kg, value 3</a:t>
            </a:r>
            <a:endParaRPr lang="en-US" sz="2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8184" y="228600"/>
            <a:ext cx="4150316" cy="403969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838184" y="4496891"/>
            <a:ext cx="4150316" cy="2132509"/>
          </a:xfrm>
          <a:prstGeom prst="rect">
            <a:avLst/>
          </a:prstGeom>
          <a:solidFill>
            <a:srgbClr val="FFE83D"/>
          </a:solidFill>
          <a:ln/>
        </p:spPr>
      </p:sp>
      <p:sp>
        <p:nvSpPr>
          <p:cNvPr id="8" name="Text 5"/>
          <p:cNvSpPr/>
          <p:nvPr/>
        </p:nvSpPr>
        <p:spPr>
          <a:xfrm>
            <a:off x="8142977" y="4886083"/>
            <a:ext cx="3540731" cy="938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3000"/>
              </a:lnSpc>
              <a:buNone/>
            </a:pPr>
            <a:r>
              <a:rPr lang="en-US" sz="8400" kern="100" spc="-42" dirty="0">
                <a:solidFill>
                  <a:srgbClr val="0A1540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6 KG</a:t>
            </a:r>
            <a:endParaRPr lang="en-US" sz="8400" dirty="0"/>
          </a:p>
        </p:txBody>
      </p:sp>
      <p:sp>
        <p:nvSpPr>
          <p:cNvPr id="9" name="Text 6"/>
          <p:cNvSpPr/>
          <p:nvPr/>
        </p:nvSpPr>
        <p:spPr>
          <a:xfrm>
            <a:off x="8142977" y="6002337"/>
            <a:ext cx="3845523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capacity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1027923"/>
            <a:ext cx="370830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0A1540"/>
                </a:solidFill>
                <a:latin typeface="Red Hat Mono SemiBold" pitchFamily="34" charset="0"/>
                <a:ea typeface="Red Hat Mono SemiBold" pitchFamily="34" charset="-122"/>
                <a:cs typeface="Red Hat Mono SemiBold" pitchFamily="34" charset="-120"/>
              </a:rPr>
              <a:t>THE MODEL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189" y="1471970"/>
            <a:ext cx="3327317" cy="2026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5600" dirty="0">
                <a:solidFill>
                  <a:srgbClr val="0A1540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EVERY ITEM IS A YES-OR-NO DECISION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189" y="3707309"/>
            <a:ext cx="3327317" cy="2130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spcAft>
                <a:spcPts val="1150"/>
              </a:spcAft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Each item must either be selected or rejected. Items cannot be divided.</a:t>
            </a:r>
            <a:endParaRPr lang="en-US" sz="20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Total weight must not exceed capacity. The goal is to maximize total value.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317892" y="1478161"/>
            <a:ext cx="3555911" cy="1321991"/>
          </a:xfrm>
          <a:prstGeom prst="roundRect">
            <a:avLst>
              <a:gd name="adj" fmla="val 2882"/>
            </a:avLst>
          </a:prstGeom>
          <a:solidFill>
            <a:srgbClr val="D2D8F9"/>
          </a:solidFill>
          <a:ln/>
        </p:spPr>
      </p:sp>
      <p:sp>
        <p:nvSpPr>
          <p:cNvPr id="6" name="Text 4"/>
          <p:cNvSpPr/>
          <p:nvPr/>
        </p:nvSpPr>
        <p:spPr>
          <a:xfrm>
            <a:off x="4546486" y="1723362"/>
            <a:ext cx="3098722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46486" y="2249289"/>
            <a:ext cx="3327317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Reject the item.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178595" y="1478161"/>
            <a:ext cx="3555911" cy="1321991"/>
          </a:xfrm>
          <a:prstGeom prst="roundRect">
            <a:avLst>
              <a:gd name="adj" fmla="val 2882"/>
            </a:avLst>
          </a:prstGeom>
          <a:solidFill>
            <a:srgbClr val="FFE83D"/>
          </a:solidFill>
          <a:ln/>
        </p:spPr>
      </p:sp>
      <p:sp>
        <p:nvSpPr>
          <p:cNvPr id="9" name="Text 7"/>
          <p:cNvSpPr/>
          <p:nvPr/>
        </p:nvSpPr>
        <p:spPr>
          <a:xfrm>
            <a:off x="8407190" y="1723362"/>
            <a:ext cx="3098722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407190" y="2249289"/>
            <a:ext cx="3327317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Select the item.</a:t>
            </a:r>
            <a:endParaRPr lang="en-US" sz="20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7892" y="3028752"/>
            <a:ext cx="7416614" cy="804763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317892" y="3990677"/>
            <a:ext cx="7416614" cy="348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900" i="1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            </a:t>
            </a: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, where </a:t>
            </a:r>
            <a:r>
              <a:rPr lang="en-US" sz="1900" i="1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      </a:t>
            </a:r>
            <a:endParaRPr lang="en-US" sz="20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7693" y="4014490"/>
            <a:ext cx="2801669" cy="316805"/>
          </a:xfrm>
          <a:prstGeom prst="rect">
            <a:avLst/>
          </a:prstGeom>
        </p:spPr>
      </p:pic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8027" y="4014490"/>
            <a:ext cx="1306579" cy="316805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5541625" y="4542433"/>
            <a:ext cx="4969048" cy="31651"/>
          </a:xfrm>
          <a:prstGeom prst="roundRect">
            <a:avLst>
              <a:gd name="adj" fmla="val 49998"/>
            </a:avLst>
          </a:prstGeom>
          <a:solidFill>
            <a:srgbClr val="C9D3F2"/>
          </a:solidFill>
          <a:ln/>
        </p:spPr>
      </p:sp>
      <p:sp>
        <p:nvSpPr>
          <p:cNvPr id="16" name="Text 11"/>
          <p:cNvSpPr/>
          <p:nvPr/>
        </p:nvSpPr>
        <p:spPr>
          <a:xfrm>
            <a:off x="4317892" y="4787225"/>
            <a:ext cx="7416614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44507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0/1 Knapsack:</a:t>
            </a:r>
            <a:r>
              <a:rPr lang="en-US" sz="1800" dirty="0">
                <a:solidFill>
                  <a:srgbClr val="44507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indivisible yes/no choices  ·  </a:t>
            </a:r>
            <a:r>
              <a:rPr lang="en-US" sz="1800" b="1" dirty="0">
                <a:solidFill>
                  <a:srgbClr val="44507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Fractional Knapsack:</a:t>
            </a:r>
            <a:r>
              <a:rPr lang="en-US" sz="1800" dirty="0">
                <a:solidFill>
                  <a:srgbClr val="44507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divisible portions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4956"/>
            <a:ext cx="1173450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0A1540"/>
                </a:solidFill>
                <a:latin typeface="Red Hat Mono SemiBold" pitchFamily="34" charset="0"/>
                <a:ea typeface="Red Hat Mono SemiBold" pitchFamily="34" charset="-122"/>
                <a:cs typeface="Red Hat Mono SemiBold" pitchFamily="34" charset="-120"/>
              </a:rPr>
              <a:t>THE COST OF BRUTE FORCE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189" y="909003"/>
            <a:ext cx="11277318" cy="675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5600" dirty="0">
                <a:solidFill>
                  <a:srgbClr val="0A1540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WHY NOT TRY EVERY COMBINATION?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457189" y="1793180"/>
            <a:ext cx="4389030" cy="4607620"/>
          </a:xfrm>
          <a:prstGeom prst="rect">
            <a:avLst/>
          </a:prstGeom>
          <a:solidFill>
            <a:srgbClr val="F1F4FD"/>
          </a:solidFill>
          <a:ln/>
        </p:spPr>
      </p:sp>
      <p:sp>
        <p:nvSpPr>
          <p:cNvPr id="5" name="Text 3"/>
          <p:cNvSpPr/>
          <p:nvPr/>
        </p:nvSpPr>
        <p:spPr>
          <a:xfrm>
            <a:off x="711182" y="2029718"/>
            <a:ext cx="3881043" cy="1339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Every item has two possible choices: include or exclude. With </a:t>
            </a:r>
            <a:r>
              <a:rPr lang="en-US" sz="1900" i="1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 </a:t>
            </a: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items, there are </a:t>
            </a:r>
            <a:r>
              <a:rPr lang="en-US" sz="1900" i="1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  </a:t>
            </a: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possible subsets.</a:t>
            </a:r>
            <a:endParaRPr lang="en-US" sz="2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4756" y="2713930"/>
            <a:ext cx="179681" cy="31680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5467" y="2713930"/>
            <a:ext cx="271456" cy="29775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1182" y="3518098"/>
            <a:ext cx="3881043" cy="6787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Time complexity: </a:t>
            </a:r>
            <a:r>
              <a:rPr lang="en-US" sz="1900" i="1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   </a:t>
            </a:r>
            <a:r>
              <a:rPr lang="en-US" sz="20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, ignoring polynomial overhead.</a:t>
            </a:r>
            <a:endParaRPr lang="en-US" sz="2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2322" y="3541911"/>
            <a:ext cx="660780" cy="31680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11182" y="4346079"/>
            <a:ext cx="3881043" cy="10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Brute force can find the optimum, but becomes expensive as </a:t>
            </a:r>
            <a:r>
              <a:rPr lang="en-US" sz="1900" i="1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 </a:t>
            </a: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grows.</a:t>
            </a:r>
            <a:endParaRPr lang="en-US" sz="20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9436" y="5030291"/>
            <a:ext cx="179681" cy="316805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5009" y="2236887"/>
            <a:ext cx="5595401" cy="2412901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022930" y="2506224"/>
            <a:ext cx="3077048" cy="188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1 CHOICE</a:t>
            </a:r>
            <a:endParaRPr lang="en-US" sz="1300" dirty="0"/>
          </a:p>
        </p:txBody>
      </p:sp>
      <p:sp>
        <p:nvSpPr>
          <p:cNvPr id="14" name="Text 7"/>
          <p:cNvSpPr/>
          <p:nvPr/>
        </p:nvSpPr>
        <p:spPr>
          <a:xfrm>
            <a:off x="6022930" y="3065765"/>
            <a:ext cx="3077048" cy="188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2 CHOICES</a:t>
            </a:r>
            <a:endParaRPr lang="en-US" sz="1300" dirty="0"/>
          </a:p>
        </p:txBody>
      </p:sp>
      <p:sp>
        <p:nvSpPr>
          <p:cNvPr id="15" name="Text 8"/>
          <p:cNvSpPr/>
          <p:nvPr/>
        </p:nvSpPr>
        <p:spPr>
          <a:xfrm>
            <a:off x="6022930" y="3619710"/>
            <a:ext cx="3077048" cy="188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4 CHOICES</a:t>
            </a:r>
            <a:endParaRPr lang="en-US" sz="1300" dirty="0"/>
          </a:p>
        </p:txBody>
      </p:sp>
      <p:sp>
        <p:nvSpPr>
          <p:cNvPr id="16" name="Text 9"/>
          <p:cNvSpPr/>
          <p:nvPr/>
        </p:nvSpPr>
        <p:spPr>
          <a:xfrm>
            <a:off x="6022930" y="4173656"/>
            <a:ext cx="3077048" cy="188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8 CHOICES</a:t>
            </a:r>
            <a:endParaRPr lang="en-US" sz="1300" dirty="0"/>
          </a:p>
        </p:txBody>
      </p:sp>
      <p:sp>
        <p:nvSpPr>
          <p:cNvPr id="17" name="Shape 10"/>
          <p:cNvSpPr/>
          <p:nvPr/>
        </p:nvSpPr>
        <p:spPr>
          <a:xfrm>
            <a:off x="5150912" y="4799013"/>
            <a:ext cx="6583595" cy="1158081"/>
          </a:xfrm>
          <a:prstGeom prst="rect">
            <a:avLst/>
          </a:prstGeom>
          <a:solidFill>
            <a:srgbClr val="FF8533"/>
          </a:solidFill>
          <a:ln/>
        </p:spPr>
      </p:sp>
      <p:sp>
        <p:nvSpPr>
          <p:cNvPr id="18" name="Text 11"/>
          <p:cNvSpPr/>
          <p:nvPr/>
        </p:nvSpPr>
        <p:spPr>
          <a:xfrm>
            <a:off x="5404905" y="5044213"/>
            <a:ext cx="6075607" cy="700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Can we solve the problem more intelligently?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4956"/>
            <a:ext cx="1173450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0A1540"/>
                </a:solidFill>
                <a:latin typeface="Red Hat Mono SemiBold" pitchFamily="34" charset="0"/>
                <a:ea typeface="Red Hat Mono SemiBold" pitchFamily="34" charset="-122"/>
                <a:cs typeface="Red Hat Mono SemiBold" pitchFamily="34" charset="-120"/>
              </a:rPr>
              <a:t>THE IDEA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189" y="909003"/>
            <a:ext cx="11277318" cy="1351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5600" dirty="0">
                <a:solidFill>
                  <a:srgbClr val="0A1540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DYNAMIC PROGRAMMING REMEMBERS THE USEFUL WORK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189" y="2468761"/>
            <a:ext cx="5486263" cy="210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406400" indent="-406400" algn="l">
              <a:lnSpc>
                <a:spcPct val="108000"/>
              </a:lnSpc>
              <a:buSzPct val="100000"/>
              <a:buChar char="•"/>
            </a:pPr>
            <a:r>
              <a:rPr lang="en-US" sz="20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Overlapping subproblems:</a:t>
            </a: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the same smaller capacities recur.</a:t>
            </a:r>
            <a:endParaRPr lang="en-US" sz="2000" dirty="0"/>
          </a:p>
          <a:p>
            <a:pPr marL="406400" indent="-406400" algn="l">
              <a:lnSpc>
                <a:spcPct val="108000"/>
              </a:lnSpc>
              <a:buSzPct val="100000"/>
              <a:buChar char="•"/>
            </a:pPr>
            <a:r>
              <a:rPr lang="en-US" sz="20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Optimal substructure:</a:t>
            </a: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an optimal solution is built from optimal smaller solutions.</a:t>
            </a:r>
            <a:endParaRPr lang="en-US" sz="2000" dirty="0"/>
          </a:p>
          <a:p>
            <a:pPr marL="406400" indent="-406400" algn="l">
              <a:lnSpc>
                <a:spcPct val="108000"/>
              </a:lnSpc>
              <a:buSzPct val="100000"/>
              <a:buChar char="•"/>
            </a:pPr>
            <a:r>
              <a:rPr lang="en-US" sz="20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Reuse:</a:t>
            </a: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store results instead of recomputing them.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189" y="4734123"/>
            <a:ext cx="5486263" cy="1045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Define </a:t>
            </a:r>
            <a:r>
              <a:rPr lang="en-US" sz="1900" i="1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    </a:t>
            </a: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as the maximum value obtainable using the first </a:t>
            </a:r>
            <a:r>
              <a:rPr lang="en-US" sz="1900" i="1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 </a:t>
            </a: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items with capacity </a:t>
            </a:r>
            <a:r>
              <a:rPr lang="en-US" sz="1900" i="1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 </a:t>
            </a: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.</a:t>
            </a:r>
            <a:endParaRPr lang="en-US" sz="2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686" y="4757936"/>
            <a:ext cx="830936" cy="31680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3436" y="5106491"/>
            <a:ext cx="116381" cy="31680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89" y="5455047"/>
            <a:ext cx="215101" cy="316805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8244" y="2468761"/>
          <a:ext cx="5486263" cy="3263817"/>
        </p:xfrm>
        <a:graphic>
          <a:graphicData uri="http://schemas.openxmlformats.org/drawingml/2006/table">
            <a:tbl>
              <a:tblPr/>
              <a:tblGrid>
                <a:gridCol w="10972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7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77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77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77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79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60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i \ w</a:t>
                      </a:r>
                      <a:endParaRPr lang="en-US" sz="20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0</a:t>
                      </a:r>
                      <a:endParaRPr lang="en-US" sz="20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1</a:t>
                      </a:r>
                      <a:endParaRPr lang="en-US" sz="20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2</a:t>
                      </a:r>
                      <a:endParaRPr lang="en-US" sz="20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3</a:t>
                      </a:r>
                      <a:endParaRPr lang="en-US" sz="20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4</a:t>
                      </a:r>
                      <a:endParaRPr lang="en-US" sz="20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0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0</a:t>
                      </a:r>
                      <a:endParaRPr lang="en-US" sz="20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0</a:t>
                      </a:r>
                      <a:endParaRPr lang="en-US" sz="20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0</a:t>
                      </a:r>
                      <a:endParaRPr lang="en-US" sz="20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0</a:t>
                      </a:r>
                      <a:endParaRPr lang="en-US" sz="20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0</a:t>
                      </a:r>
                      <a:endParaRPr lang="en-US" sz="20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0</a:t>
                      </a:r>
                      <a:endParaRPr lang="en-US" sz="20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60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1</a:t>
                      </a:r>
                      <a:endParaRPr lang="en-US" sz="20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0</a:t>
                      </a:r>
                      <a:endParaRPr lang="en-US" sz="20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0</a:t>
                      </a:r>
                      <a:endParaRPr lang="en-US" sz="20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0</a:t>
                      </a:r>
                      <a:endParaRPr lang="en-US" sz="20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4</a:t>
                      </a:r>
                      <a:endParaRPr lang="en-US" sz="20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4</a:t>
                      </a:r>
                      <a:endParaRPr lang="en-US" sz="20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60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2</a:t>
                      </a:r>
                      <a:endParaRPr lang="en-US" sz="20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0</a:t>
                      </a:r>
                      <a:endParaRPr lang="en-US" sz="20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0</a:t>
                      </a:r>
                      <a:endParaRPr lang="en-US" sz="20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3</a:t>
                      </a:r>
                      <a:endParaRPr lang="en-US" sz="20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4</a:t>
                      </a:r>
                      <a:endParaRPr lang="en-US" sz="20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4</a:t>
                      </a:r>
                      <a:endParaRPr lang="en-US" sz="20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60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3</a:t>
                      </a:r>
                      <a:endParaRPr lang="en-US" sz="20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0</a:t>
                      </a:r>
                      <a:endParaRPr lang="en-US" sz="20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2</a:t>
                      </a:r>
                      <a:endParaRPr lang="en-US" sz="20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5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3</a:t>
                      </a:r>
                      <a:endParaRPr lang="en-US" sz="20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5</a:t>
                      </a:r>
                      <a:endParaRPr lang="en-US" sz="20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6</a:t>
                      </a:r>
                      <a:endParaRPr lang="en-US" sz="20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5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3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4</a:t>
                      </a:r>
                      <a:endParaRPr lang="en-US" sz="20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0</a:t>
                      </a:r>
                      <a:endParaRPr lang="en-US" sz="20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2</a:t>
                      </a:r>
                      <a:endParaRPr lang="en-US" sz="20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3</a:t>
                      </a:r>
                      <a:endParaRPr lang="en-US" sz="20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5</a:t>
                      </a:r>
                      <a:endParaRPr lang="en-US" sz="20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6</a:t>
                      </a:r>
                      <a:endParaRPr lang="en-US" sz="20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4"/>
          <p:cNvSpPr/>
          <p:nvPr/>
        </p:nvSpPr>
        <p:spPr>
          <a:xfrm>
            <a:off x="6248244" y="5909191"/>
            <a:ext cx="5486263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800" dirty="0">
                <a:solidFill>
                  <a:srgbClr val="44507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 stored answer turns repeated work into a lookup.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5681"/>
            <a:ext cx="11734506" cy="281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50" kern="100" spc="18" dirty="0">
                <a:solidFill>
                  <a:srgbClr val="0A1540"/>
                </a:solidFill>
                <a:latin typeface="Red Hat Mono SemiBold" pitchFamily="34" charset="0"/>
                <a:ea typeface="Red Hat Mono SemiBold" pitchFamily="34" charset="-122"/>
                <a:cs typeface="Red Hat Mono SemiBold" pitchFamily="34" charset="-120"/>
              </a:rPr>
              <a:t>THE RECURRENCE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457189" y="864324"/>
            <a:ext cx="11277318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5150" dirty="0">
                <a:solidFill>
                  <a:srgbClr val="0A1540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THE RECURRENCE CHOOSES THE BETTER PATH</a:t>
            </a:r>
            <a:endParaRPr lang="en-US" sz="5150" dirty="0"/>
          </a:p>
        </p:txBody>
      </p:sp>
      <p:sp>
        <p:nvSpPr>
          <p:cNvPr id="4" name="Text 2"/>
          <p:cNvSpPr/>
          <p:nvPr/>
        </p:nvSpPr>
        <p:spPr>
          <a:xfrm>
            <a:off x="457189" y="1681421"/>
            <a:ext cx="5410065" cy="323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Base cases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2115939"/>
            <a:ext cx="5410065" cy="402034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89" y="2645073"/>
            <a:ext cx="5410065" cy="40203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189" y="3136472"/>
            <a:ext cx="5410065" cy="2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50" dirty="0">
                <a:solidFill>
                  <a:srgbClr val="44507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No items or zero capacity gives zero value.</a:t>
            </a:r>
            <a:endParaRPr lang="en-US" sz="1650" dirty="0"/>
          </a:p>
        </p:txBody>
      </p:sp>
      <p:sp>
        <p:nvSpPr>
          <p:cNvPr id="8" name="Shape 4"/>
          <p:cNvSpPr/>
          <p:nvPr/>
        </p:nvSpPr>
        <p:spPr>
          <a:xfrm>
            <a:off x="457189" y="3592016"/>
            <a:ext cx="5410065" cy="50701"/>
          </a:xfrm>
          <a:prstGeom prst="roundRect">
            <a:avLst>
              <a:gd name="adj" fmla="val 49999"/>
            </a:avLst>
          </a:prstGeom>
          <a:solidFill>
            <a:srgbClr val="C9D3F2"/>
          </a:solidFill>
          <a:ln/>
        </p:spPr>
      </p:sp>
      <p:sp>
        <p:nvSpPr>
          <p:cNvPr id="9" name="Text 5"/>
          <p:cNvSpPr/>
          <p:nvPr/>
        </p:nvSpPr>
        <p:spPr>
          <a:xfrm>
            <a:off x="457189" y="3910668"/>
            <a:ext cx="5410065" cy="323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When it does not fit</a:t>
            </a:r>
            <a:endParaRPr lang="en-US" sz="2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89" y="4345186"/>
            <a:ext cx="5410065" cy="80406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57189" y="5238620"/>
            <a:ext cx="5410065" cy="2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50" dirty="0">
                <a:solidFill>
                  <a:srgbClr val="44507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Carry forward the previous best.</a:t>
            </a: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6324442" y="1681421"/>
            <a:ext cx="5410065" cy="323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Otherwise, compare the two paths</a:t>
            </a:r>
            <a:endParaRPr lang="en-US" sz="2200" dirty="0"/>
          </a:p>
        </p:txBody>
      </p:sp>
      <p:sp>
        <p:nvSpPr>
          <p:cNvPr id="13" name="Shape 8"/>
          <p:cNvSpPr/>
          <p:nvPr/>
        </p:nvSpPr>
        <p:spPr>
          <a:xfrm>
            <a:off x="6324442" y="2145705"/>
            <a:ext cx="2552636" cy="3438227"/>
          </a:xfrm>
          <a:prstGeom prst="rect">
            <a:avLst/>
          </a:prstGeom>
          <a:noFill/>
          <a:ln w="6350">
            <a:solidFill>
              <a:srgbClr val="C9D3F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6559386" y="2396789"/>
            <a:ext cx="2082748" cy="323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B93C0B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Exclude</a:t>
            </a:r>
            <a:endParaRPr lang="en-US" sz="22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9386" y="2831306"/>
            <a:ext cx="2082748" cy="120610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559386" y="4126774"/>
            <a:ext cx="2082748" cy="823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50" dirty="0">
                <a:solidFill>
                  <a:srgbClr val="44507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Carry forward the best value without the current item.</a:t>
            </a:r>
            <a:endParaRPr lang="en-US" sz="1650" dirty="0"/>
          </a:p>
        </p:txBody>
      </p:sp>
      <p:sp>
        <p:nvSpPr>
          <p:cNvPr id="17" name="Shape 11"/>
          <p:cNvSpPr/>
          <p:nvPr/>
        </p:nvSpPr>
        <p:spPr>
          <a:xfrm>
            <a:off x="9181870" y="2145705"/>
            <a:ext cx="2552636" cy="3438227"/>
          </a:xfrm>
          <a:prstGeom prst="rect">
            <a:avLst/>
          </a:prstGeom>
          <a:noFill/>
          <a:ln w="6350">
            <a:solidFill>
              <a:srgbClr val="1D3BE3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9416814" y="2396789"/>
            <a:ext cx="2082748" cy="323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7F62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Include</a:t>
            </a:r>
            <a:endParaRPr lang="en-US" sz="22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16814" y="2831306"/>
            <a:ext cx="2082748" cy="1608137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416814" y="4528809"/>
            <a:ext cx="2082748" cy="823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50" dirty="0">
                <a:solidFill>
                  <a:srgbClr val="44507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Add its value to the best remaining capacity.</a:t>
            </a:r>
            <a:endParaRPr lang="en-US" sz="165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4442" y="5711031"/>
            <a:ext cx="5410065" cy="80406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88950"/>
            <a:ext cx="1127731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000" dirty="0">
                <a:solidFill>
                  <a:srgbClr val="0A1540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FILLING THE TABLE, ONE DECISION AT A TIME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189" y="1195705"/>
            <a:ext cx="11734506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44507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Rows are cumulative item sets; capacities 0 through 6.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189" y="1719560"/>
          <a:ext cx="11277316" cy="2636177"/>
        </p:xfrm>
        <a:graphic>
          <a:graphicData uri="http://schemas.openxmlformats.org/drawingml/2006/table">
            <a:tbl>
              <a:tblPr/>
              <a:tblGrid>
                <a:gridCol w="2679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81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81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81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81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81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818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2848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84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Items used</a:t>
                      </a:r>
                      <a:endParaRPr lang="en-US" sz="16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01598" marR="101598" marT="50799" marB="50799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0</a:t>
                      </a:r>
                      <a:endParaRPr lang="en-US" sz="16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01598" marR="101598" marT="50799" marB="50799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1</a:t>
                      </a:r>
                      <a:endParaRPr lang="en-US" sz="16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01598" marR="101598" marT="50799" marB="50799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2</a:t>
                      </a:r>
                      <a:endParaRPr lang="en-US" sz="16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01598" marR="101598" marT="50799" marB="50799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3</a:t>
                      </a:r>
                      <a:endParaRPr lang="en-US" sz="16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01598" marR="101598" marT="50799" marB="50799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4</a:t>
                      </a:r>
                      <a:endParaRPr lang="en-US" sz="16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01598" marR="101598" marT="50799" marB="50799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5</a:t>
                      </a:r>
                      <a:endParaRPr lang="en-US" sz="16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01598" marR="101598" marT="50799" marB="50799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6</a:t>
                      </a:r>
                      <a:endParaRPr lang="en-US" sz="16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01598" marR="101598" marT="50799" marB="50799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4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None</a:t>
                      </a:r>
                      <a:endParaRPr lang="en-US" sz="16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01598" marR="101598" marT="50799" marB="50799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0</a:t>
                      </a:r>
                      <a:endParaRPr lang="en-US" sz="16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01598" marR="101598" marT="50799" marB="50799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0</a:t>
                      </a:r>
                      <a:endParaRPr lang="en-US" sz="16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01598" marR="101598" marT="50799" marB="50799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0</a:t>
                      </a:r>
                      <a:endParaRPr lang="en-US" sz="16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01598" marR="101598" marT="50799" marB="50799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0</a:t>
                      </a:r>
                      <a:endParaRPr lang="en-US" sz="16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01598" marR="101598" marT="50799" marB="50799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0</a:t>
                      </a:r>
                      <a:endParaRPr lang="en-US" sz="16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01598" marR="101598" marT="50799" marB="50799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0</a:t>
                      </a:r>
                      <a:endParaRPr lang="en-US" sz="16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01598" marR="101598" marT="50799" marB="50799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0</a:t>
                      </a:r>
                      <a:endParaRPr lang="en-US" sz="16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01598" marR="101598" marT="50799" marB="50799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4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Laptop</a:t>
                      </a:r>
                      <a:endParaRPr lang="en-US" sz="16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01598" marR="101598" marT="50799" marB="50799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0</a:t>
                      </a:r>
                      <a:endParaRPr lang="en-US" sz="16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01598" marR="101598" marT="50799" marB="50799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0</a:t>
                      </a:r>
                      <a:endParaRPr lang="en-US" sz="16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01598" marR="101598" marT="50799" marB="50799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0</a:t>
                      </a:r>
                      <a:endParaRPr lang="en-US" sz="16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01598" marR="101598" marT="50799" marB="50799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4</a:t>
                      </a:r>
                      <a:endParaRPr lang="en-US" sz="16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01598" marR="101598" marT="50799" marB="50799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4</a:t>
                      </a:r>
                      <a:endParaRPr lang="en-US" sz="16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01598" marR="101598" marT="50799" marB="50799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4</a:t>
                      </a:r>
                      <a:endParaRPr lang="en-US" sz="16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01598" marR="101598" marT="50799" marB="50799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4</a:t>
                      </a:r>
                      <a:endParaRPr lang="en-US" sz="16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01598" marR="101598" marT="50799" marB="50799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4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Laptop + Camera</a:t>
                      </a:r>
                      <a:endParaRPr lang="en-US" sz="16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01598" marR="101598" marT="50799" marB="50799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0</a:t>
                      </a:r>
                      <a:endParaRPr lang="en-US" sz="16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01598" marR="101598" marT="50799" marB="50799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0</a:t>
                      </a:r>
                      <a:endParaRPr lang="en-US" sz="16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01598" marR="101598" marT="50799" marB="50799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3</a:t>
                      </a:r>
                      <a:endParaRPr lang="en-US" sz="16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01598" marR="101598" marT="50799" marB="50799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4</a:t>
                      </a:r>
                      <a:endParaRPr lang="en-US" sz="16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01598" marR="101598" marT="50799" marB="50799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4</a:t>
                      </a:r>
                      <a:endParaRPr lang="en-US" sz="16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01598" marR="101598" marT="50799" marB="50799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7</a:t>
                      </a:r>
                      <a:endParaRPr lang="en-US" sz="16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01598" marR="101598" marT="50799" marB="50799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7</a:t>
                      </a:r>
                      <a:endParaRPr lang="en-US" sz="16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01598" marR="101598" marT="50799" marB="50799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84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+ Headphones</a:t>
                      </a:r>
                      <a:endParaRPr lang="en-US" sz="16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01598" marR="101598" marT="50799" marB="50799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0</a:t>
                      </a:r>
                      <a:endParaRPr lang="en-US" sz="16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01598" marR="101598" marT="50799" marB="50799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2</a:t>
                      </a:r>
                      <a:endParaRPr lang="en-US" sz="16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01598" marR="101598" marT="50799" marB="50799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3</a:t>
                      </a:r>
                      <a:endParaRPr lang="en-US" sz="16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01598" marR="101598" marT="50799" marB="50799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5</a:t>
                      </a:r>
                      <a:endParaRPr lang="en-US" sz="16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01598" marR="101598" marT="50799" marB="50799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6</a:t>
                      </a:r>
                      <a:endParaRPr lang="en-US" sz="16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01598" marR="101598" marT="50799" marB="50799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7</a:t>
                      </a:r>
                      <a:endParaRPr lang="en-US" sz="16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01598" marR="101598" marT="50799" marB="50799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9</a:t>
                      </a:r>
                      <a:endParaRPr lang="en-US" sz="16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01598" marR="101598" marT="50799" marB="50799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5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84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+ Textbook</a:t>
                      </a:r>
                      <a:endParaRPr lang="en-US" sz="16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01598" marR="101598" marT="50799" marB="50799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0</a:t>
                      </a:r>
                      <a:endParaRPr lang="en-US" sz="16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01598" marR="101598" marT="50799" marB="50799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2</a:t>
                      </a:r>
                      <a:endParaRPr lang="en-US" sz="16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01598" marR="101598" marT="50799" marB="50799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3</a:t>
                      </a:r>
                      <a:endParaRPr lang="en-US" sz="16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01598" marR="101598" marT="50799" marB="50799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5</a:t>
                      </a:r>
                      <a:endParaRPr lang="en-US" sz="16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01598" marR="101598" marT="50799" marB="50799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6</a:t>
                      </a:r>
                      <a:endParaRPr lang="en-US" sz="16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01598" marR="101598" marT="50799" marB="50799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7</a:t>
                      </a:r>
                      <a:endParaRPr lang="en-US" sz="16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01598" marR="101598" marT="50799" marB="50799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9</a:t>
                      </a:r>
                      <a:endParaRPr lang="en-US" sz="16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01598" marR="101598" marT="50799" marB="50799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+ Power bank</a:t>
                      </a:r>
                      <a:endParaRPr lang="en-US" sz="16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01598" marR="101598" marT="50799" marB="50799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0</a:t>
                      </a:r>
                      <a:endParaRPr lang="en-US" sz="16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01598" marR="101598" marT="50799" marB="50799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2</a:t>
                      </a:r>
                      <a:endParaRPr lang="en-US" sz="16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01598" marR="101598" marT="50799" marB="50799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3</a:t>
                      </a:r>
                      <a:endParaRPr lang="en-US" sz="16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01598" marR="101598" marT="50799" marB="50799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5</a:t>
                      </a:r>
                      <a:endParaRPr lang="en-US" sz="16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01598" marR="101598" marT="50799" marB="50799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6</a:t>
                      </a:r>
                      <a:endParaRPr lang="en-US" sz="16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01598" marR="101598" marT="50799" marB="50799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8</a:t>
                      </a:r>
                      <a:endParaRPr lang="en-US" sz="16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01598" marR="101598" marT="50799" marB="50799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9</a:t>
                      </a:r>
                      <a:endParaRPr lang="en-US" sz="16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01598" marR="101598" marT="50799" marB="50799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5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189" y="4611707"/>
            <a:ext cx="5486263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dp[1][3] = 4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Include Laptop for 4; exclude for 0.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248244" y="4611707"/>
            <a:ext cx="5486263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dp[3][6] = 9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Include laptop, camera, headphones; exclude for 7.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4956"/>
            <a:ext cx="1173450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0A1540"/>
                </a:solidFill>
                <a:latin typeface="Red Hat Mono SemiBold" pitchFamily="34" charset="0"/>
                <a:ea typeface="Red Hat Mono SemiBold" pitchFamily="34" charset="-122"/>
                <a:cs typeface="Red Hat Mono SemiBold" pitchFamily="34" charset="-120"/>
              </a:rPr>
              <a:t>THE ANSWER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189" y="909003"/>
            <a:ext cx="11277318" cy="675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5600" dirty="0">
                <a:solidFill>
                  <a:srgbClr val="0A1540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THE OPTIMAL DECISION IS WORTH 9</a:t>
            </a:r>
            <a:endParaRPr lang="en-US" sz="5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2928739"/>
            <a:ext cx="3809905" cy="2159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29234" y="2930644"/>
            <a:ext cx="5105272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Laptop</a:t>
            </a:r>
            <a:r>
              <a:rPr lang="en-US" sz="18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— 3 kg, value 4 · </a:t>
            </a:r>
            <a:r>
              <a:rPr lang="en-US" sz="18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Camera</a:t>
            </a:r>
            <a:r>
              <a:rPr lang="en-US" sz="18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— 2 kg, value 3 · </a:t>
            </a:r>
            <a:r>
              <a:rPr lang="en-US" sz="18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Headphones</a:t>
            </a:r>
            <a:r>
              <a:rPr lang="en-US" sz="18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— 1 kg, value 2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629234" y="3759597"/>
            <a:ext cx="5562461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Total weight:</a:t>
            </a: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6 kg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629234" y="4316174"/>
            <a:ext cx="5562461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highlight>
                  <a:srgbClr val="FFE83D"/>
                </a:highlight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Maximum total value: 9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629234" y="4937145"/>
            <a:ext cx="5105272" cy="906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44507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Backtracking from </a:t>
            </a:r>
            <a:r>
              <a:rPr lang="en-US" sz="1700" i="1" dirty="0">
                <a:solidFill>
                  <a:srgbClr val="44507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      </a:t>
            </a:r>
            <a:r>
              <a:rPr lang="en-US" sz="1800" dirty="0">
                <a:solidFill>
                  <a:srgbClr val="44507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: compare rows, identify where the value changes, and reconstruct the selected items.</a:t>
            </a:r>
            <a:endParaRPr lang="en-US" sz="18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7330" y="4960640"/>
            <a:ext cx="1137118" cy="287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629234" y="6078537"/>
            <a:ext cx="5562461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B93C0B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Unselected:</a:t>
            </a:r>
            <a:r>
              <a:rPr lang="en-US" sz="2000" dirty="0">
                <a:solidFill>
                  <a:srgbClr val="B93C0B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Textbook and Power bank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502603"/>
            <a:ext cx="11277318" cy="675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5600" dirty="0">
                <a:solidFill>
                  <a:srgbClr val="0A1540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FROM A TABLE TO BETTER DECISIONS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189" y="1418530"/>
            <a:ext cx="5486263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000" dirty="0">
                <a:solidFill>
                  <a:srgbClr val="0A1540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COMPLEXITY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189" y="2123380"/>
            <a:ext cx="5486263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406400" indent="-406400" algn="l">
              <a:lnSpc>
                <a:spcPct val="108000"/>
              </a:lnSpc>
              <a:buSzPct val="100000"/>
              <a:buChar char="•"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Time: O(nW)</a:t>
            </a:r>
            <a:endParaRPr lang="en-US" sz="2000" dirty="0"/>
          </a:p>
          <a:p>
            <a:pPr marL="406400" indent="-406400" algn="l">
              <a:lnSpc>
                <a:spcPct val="108000"/>
              </a:lnSpc>
              <a:buSzPct val="100000"/>
              <a:buChar char="•"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Space: O(nW) for the full DP table</a:t>
            </a:r>
            <a:endParaRPr lang="en-US" sz="2000" dirty="0"/>
          </a:p>
          <a:p>
            <a:pPr marL="406400" indent="-406400" algn="l">
              <a:lnSpc>
                <a:spcPct val="108000"/>
              </a:lnSpc>
              <a:buSzPct val="100000"/>
              <a:buChar char="•"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Pseudo-polynomial: complexity depends on numeric capacity 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189" y="3831530"/>
            <a:ext cx="5486263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000" dirty="0">
                <a:solidFill>
                  <a:srgbClr val="0A1540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APPLICATIONS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189" y="4536380"/>
            <a:ext cx="5486263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406400" indent="-406400" algn="l">
              <a:lnSpc>
                <a:spcPct val="108000"/>
              </a:lnSpc>
              <a:buSzPct val="100000"/>
              <a:buChar char="•"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Selecting projects under a limited budget</a:t>
            </a:r>
            <a:endParaRPr lang="en-US" sz="2000" dirty="0"/>
          </a:p>
          <a:p>
            <a:pPr marL="406400" indent="-406400" algn="l">
              <a:lnSpc>
                <a:spcPct val="108000"/>
              </a:lnSpc>
              <a:buSzPct val="100000"/>
              <a:buChar char="•"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Cargo loading</a:t>
            </a:r>
            <a:endParaRPr lang="en-US" sz="2000" dirty="0"/>
          </a:p>
          <a:p>
            <a:pPr marL="406400" indent="-406400" algn="l">
              <a:lnSpc>
                <a:spcPct val="108000"/>
              </a:lnSpc>
              <a:buSzPct val="100000"/>
              <a:buChar char="•"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Resource allocation in computing systems</a:t>
            </a:r>
            <a:endParaRPr lang="en-US" sz="2000" dirty="0"/>
          </a:p>
          <a:p>
            <a:pPr marL="406400" indent="-406400" algn="l">
              <a:lnSpc>
                <a:spcPct val="108000"/>
              </a:lnSpc>
              <a:buSzPct val="100000"/>
              <a:buChar char="•"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Choosing features under a resource constraint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248244" y="1388685"/>
            <a:ext cx="5486263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44507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Real-world applications may require additional constraints.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48244" y="2138263"/>
            <a:ext cx="5486263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Takeaway:</a:t>
            </a: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Dynamic programming helps us find the best combination by systematically reusing solutions to smaller problems.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248244" y="3381276"/>
            <a:ext cx="5486263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000" dirty="0">
                <a:solidFill>
                  <a:srgbClr val="0A1540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REFERENCES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248244" y="4086126"/>
            <a:ext cx="5486263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406400" indent="-406400" algn="l">
              <a:lnSpc>
                <a:spcPct val="108000"/>
              </a:lnSpc>
              <a:buSzPct val="100000"/>
              <a:buChar char="•"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Introduction to Algorithms by Cormen, Leiserson, Rivest, and Stein.</a:t>
            </a:r>
            <a:endParaRPr lang="en-US" sz="2000" dirty="0"/>
          </a:p>
          <a:p>
            <a:pPr marL="406400" indent="-406400" algn="l">
              <a:lnSpc>
                <a:spcPct val="108000"/>
              </a:lnSpc>
              <a:buSzPct val="100000"/>
              <a:buChar char="•"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MIT OpenCourseWare materials on algorithms and dynamic programming.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248244" y="5621556"/>
            <a:ext cx="5486263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44507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Generated using Gamma AI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1736130"/>
            <a:ext cx="7213420" cy="167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3000"/>
              </a:lnSpc>
              <a:buNone/>
            </a:pPr>
            <a:r>
              <a:rPr lang="en-US" sz="15000" kern="100" spc="-75" dirty="0">
                <a:solidFill>
                  <a:srgbClr val="FFE83D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THANK YOU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457189" y="3534132"/>
            <a:ext cx="7213420" cy="675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326571" y="4426248"/>
            <a:ext cx="780122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5400" dirty="0">
                <a:solidFill>
                  <a:srgbClr val="FFFFFF"/>
                </a:solidFill>
                <a:latin typeface="Host Grotesk" pitchFamily="34" charset="0"/>
              </a:rPr>
              <a:t>Made With GAMMA</a:t>
            </a:r>
          </a:p>
          <a:p>
            <a:pPr marL="0" indent="0" algn="l">
              <a:lnSpc>
                <a:spcPct val="108000"/>
              </a:lnSpc>
              <a:buNone/>
            </a:pPr>
            <a:endParaRPr lang="en-US" sz="2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193" y="355600"/>
            <a:ext cx="3454314" cy="6248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691</Words>
  <Application>Microsoft Office PowerPoint</Application>
  <PresentationFormat>Widescreen</PresentationFormat>
  <Paragraphs>191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Host Grotesk Bold</vt:lpstr>
      <vt:lpstr>Host Grotesk</vt:lpstr>
      <vt:lpstr>Sofia Sans Extra Condensed Black</vt:lpstr>
      <vt:lpstr>Red Hat Mono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lastModifiedBy>Nehal Sugandh</cp:lastModifiedBy>
  <cp:revision>2</cp:revision>
  <dcterms:created xsi:type="dcterms:W3CDTF">2026-10-20T20:16:30Z</dcterms:created>
  <dcterms:modified xsi:type="dcterms:W3CDTF">2026-10-20T20:40:35Z</dcterms:modified>
</cp:coreProperties>
</file>